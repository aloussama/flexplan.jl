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TPOWER/matpower" TargetMode="External"/><Relationship Id="rId2" Type="http://schemas.openxmlformats.org/officeDocument/2006/relationships/hyperlink" Target="https://github.com/lanl-ansi/InfrastructureModels.jl" TargetMode="External"/><Relationship Id="rId3" Type="http://schemas.openxmlformats.org/officeDocument/2006/relationships/hyperlink" Target="https://github.com/lanl-ansi/PowerModels.jl" TargetMode="External"/><Relationship Id="rId4" Type="http://schemas.openxmlformats.org/officeDocument/2006/relationships/hyperlink" Target="https://github.com/Electa-Git/PowerModelsACDC.jl" TargetMode="External"/><Relationship Id="rId5" Type="http://schemas.openxmlformats.org/officeDocument/2006/relationships/hyperlink" Target="https://github.com/lanl-ansi/PowerModelsDistribution.jl" TargetMode="External"/><Relationship Id="rId6" Type="http://schemas.openxmlformats.org/officeDocument/2006/relationships/hyperlink" Target="https://github.com/Electa-Git/FlexPlan.jl" TargetMode="External"/><Relationship Id="rId7" Type="http://schemas.openxmlformats.org/officeDocument/2006/relationships/hyperlink" Target="https://github.com/Electa-Git/CbaOPF.jl" TargetMode="External"/><Relationship Id="rId8" Type="http://schemas.openxmlformats.org/officeDocument/2006/relationships/hyperlink" Target="https://github.com/Sienna-Platform/InfrastructureSystems.jl" TargetMode="External"/><Relationship Id="rId9" Type="http://schemas.openxmlformats.org/officeDocument/2006/relationships/hyperlink" Target="https://github.com/Sienna-Platform/PowerSystems.jl" TargetMode="External"/><Relationship Id="rId10" Type="http://schemas.openxmlformats.org/officeDocument/2006/relationships/hyperlink" Target="https://github.com/Sienna-Platform/PowerSimulations.jl" TargetMode="External"/><Relationship Id="rId11" Type="http://schemas.openxmlformats.org/officeDocument/2006/relationships/hyperlink" Target="https://github.com/NREL-Sienna/PowerSystemsInvestments.jl" TargetMode="External"/><Relationship Id="rId12" Type="http://schemas.openxmlformats.org/officeDocument/2006/relationships/hyperlink" Target="https://github.com/Sienna-Platform/PowerSimulationsDynamics.jl" TargetMode="External"/><Relationship Id="rId13" Type="http://schemas.openxmlformats.org/officeDocument/2006/relationships/hyperlink" Target="https://github.com/NREL-Sienna/PowerModelsInterface.jl" TargetMode="External"/><Relationship Id="rId14" Type="http://schemas.openxmlformats.org/officeDocument/2006/relationships/hyperlink" Target="https://github.com/Sienna-Platform" TargetMode="Externa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MATPOWER, PowerModels.jl und Sienna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7085"/>
                </a:solidFill>
              </a:rPr>
              <a:t>Kurzüberblick für Energy-System-Optimization-Modeling, Netzplanung und dynamiknahe Studien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2240280"/>
            <a:ext cx="1060704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3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MATPOWER: historisches MATLAB/Octave-Referenzprodukt für PF, CPF und OPF.</a:t>
            </a:r>
            <a:endParaRPr lang="en-US" sz="2300" dirty="0"/>
          </a:p>
          <a:p>
            <a:r>
              <a:rPr lang="en-US" sz="23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PowerModels.jl: Julia/JuMP-Stack für mathematische Netzformulierungen.</a:t>
            </a:r>
            <a:endParaRPr lang="en-US" sz="2300" dirty="0"/>
          </a:p>
          <a:p>
            <a:r>
              <a:rPr lang="en-US" sz="23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Sienna: Julia-Stack für Systemdaten, Zeitreihen, Operation, Investment und Dynamik.</a:t>
            </a:r>
            <a:endParaRPr lang="en-US" sz="2300" dirty="0"/>
          </a:p>
          <a:p>
            <a:r>
              <a:rPr lang="en-US" sz="23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Kernaussage: Die Stacks sind eher komplementär als substitutiv.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Grobe Einordnung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Drei Rollen: historisches Werkzeug, Formulierungsstack, System- und Workflow-Stack.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881360" cy="4846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1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 etablierte eine pragmatische PF/OPF-Arbeitsweise mit kompakten Fallformaten.</a:t>
            </a:r>
            <a:endParaRPr lang="en-US" sz="2100" dirty="0"/>
          </a:p>
          <a:p>
            <a:r>
              <a:rPr lang="en-US" sz="21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 abstrahiert die Netzgleichungen und erlaubt den systematischen Vergleich von AC-, DC- und Relaxierungsformulierungen.</a:t>
            </a:r>
            <a:endParaRPr lang="en-US" sz="2100" dirty="0"/>
          </a:p>
          <a:p>
            <a:r>
              <a:rPr lang="en-US" sz="21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Sienna abstrahiert das Energiesystem als wiederverwendbares, typisiertes Datenmodell mit Zeitreihen.</a:t>
            </a:r>
            <a:endParaRPr lang="en-US" sz="2100" dirty="0"/>
          </a:p>
          <a:p>
            <a:r>
              <a:rPr lang="en-US" sz="21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zentrale Trennlinie ist nicht „Betrieb versus Planung“, sondern „Formulierung“ versus „System-/Workflow-Repräsentation“.</a:t>
            </a:r>
            <a:endParaRPr lang="en-US" sz="2100" dirty="0"/>
          </a:p>
          <a:p>
            <a:r>
              <a:rPr lang="en-US" sz="21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Für ESOM/TNEP-Studien ist eine hybride Architektur oft am stärksten: MATPOWER-Fälle als Input, PowerModels für Netzmathematik, Sienna für System- und Zeitlogik.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MATPOWER als historisches Produkt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Warum MATPOWER trotz moderner Julia/JuMP-Stacks weiterhin relevant ist.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Funktionale Rolle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527048"/>
            <a:ext cx="51663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MATLAB/Octave-Paket aus M-Files für Power Flow, Continuation Power Flow und Optimal Power Flow.</a:t>
            </a:r>
            <a:endParaRPr lang="en-US" sz="1850" dirty="0"/>
          </a:p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Konzipiert für Forschung und Lehre: leicht ausführbar, leicht änderbar, breit zitierbar.</a:t>
            </a:r>
            <a:endParaRPr lang="en-US" sz="1850" dirty="0"/>
          </a:p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Stark für reproduzierbare Standardfälle und schnelle Vergleichsrechnungen.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55080" y="12070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Historische Wirkung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46520" y="1527048"/>
            <a:ext cx="51206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MATPOWER-Casefiles wurden faktisch zu einem Interchange-Format für viele Netzoptimierungsarbeiten.</a:t>
            </a:r>
            <a:endParaRPr lang="en-US" sz="1850" dirty="0"/>
          </a:p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Viele spätere Werkzeuge übernehmen MATPOWER-Daten als Eingabe oder Vergleichsbasis.</a:t>
            </a:r>
            <a:endParaRPr lang="en-US" sz="1850" dirty="0"/>
          </a:p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 ist kein vollständiges ESOM-Framework: Chronologie, Investitionsportfolios und Dynamik liegen typischerweise außerhalb des Kerns.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Praktische Konsequenz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106070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Für neue methodische Arbeiten ist MATPOWER oft die Benchmark- und Dateneingangsquelle, nicht mehr die gesamte Forschungsarchitektur.</a:t>
            </a:r>
            <a:endParaRPr lang="en-US" sz="1850" dirty="0"/>
          </a:p>
          <a:p>
            <a:r>
              <a:rPr lang="en-US" sz="185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Der Wert liegt heute besonders in Fallbibliotheken, Vergleichbarkeit und Anschlussfähigkeit an ältere Literatur.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PowerModels-Stack: von InfrastructureModels zu Anwendungen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Formulierungszentrierte Organisation.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972800" cy="4937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0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InfrastructureModels.jl: generische Infrastruktur für mathematische Optimierungsmodelle von Netzinfrastrukturen.</a:t>
            </a:r>
            <a:endParaRPr lang="en-US" sz="2020" dirty="0"/>
          </a:p>
          <a:p>
            <a:r>
              <a:rPr lang="en-US" sz="20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PowerModels.jl: steady-state Power-Network-Optimization auf Basis von Julia, JuMP und Solver-Schnittstellen.</a:t>
            </a:r>
            <a:endParaRPr lang="en-US" sz="2020" dirty="0"/>
          </a:p>
          <a:p>
            <a:r>
              <a:rPr lang="en-US" sz="20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Kernabstraktion: Problemtyp × Netzformulierung, z. B. OPF × ACP, OPF × DCP, TNEP × DC, TNEP × AC/SOC.</a:t>
            </a:r>
            <a:endParaRPr lang="en-US" sz="2020" dirty="0"/>
          </a:p>
          <a:p>
            <a:r>
              <a:rPr lang="en-US" sz="20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Netzdaten sind typischerweise dictionary-/case-orientiert; MATPOWER-Fälle können gelesen und weiterverarbeitet werden.</a:t>
            </a:r>
            <a:endParaRPr lang="en-US" sz="2020" dirty="0"/>
          </a:p>
          <a:p>
            <a:r>
              <a:rPr lang="en-US" sz="20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Architektur ist besonders geeignet, wenn die wissenschaftliche Neuerung in Gleichungen, Nebenbedingungen oder Relaxierungen liegt.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PowerModels-Erweiterungen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Beispiele für Frameworks, die auf dem Formulierungsstack aufbauen.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Wichtige Pakete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534924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PowerModelsACDC.jl: AC/DC-OPF, DC-Leitungen, meshed DC grids und AC/DC-Konverter.</a:t>
            </a:r>
            <a:endParaRPr lang="en-US" sz="1760" dirty="0"/>
          </a:p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PowerModelsDistribution.jl: Verteilnetzorientierte Modellierung und Formulierungen.</a:t>
            </a:r>
            <a:endParaRPr lang="en-US" sz="1760" dirty="0"/>
          </a:p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FlexPlan.jl: Planungsframework auf PowerModels/PowerModelsACDC-Basis für Expansion, Flexibilität, Szenarien und Dekomposition.</a:t>
            </a:r>
            <a:endParaRPr lang="en-US" sz="1760" dirty="0"/>
          </a:p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CbaOPF.jl: AC/DC-Cost-Benefit- und Betriebsrechnungen; baut auf PowerModels, PowerModelsACDC und FlexPlan auf.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Nutzen für ESOM/TNEP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92240" y="1481328"/>
            <a:ext cx="512064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Stark für AC/DC-Netzrestriktionen, Kandidatenleitungen, Konverter, Spannungsgrenzen und Netzwerkrelaxierungen.</a:t>
            </a:r>
            <a:endParaRPr lang="en-US" sz="1760" dirty="0"/>
          </a:p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Gut geeignet für methodische Arbeiten, in denen mehrere Netzmodelle vergleichend untersucht werden.</a:t>
            </a:r>
            <a:endParaRPr lang="en-US" sz="1760" dirty="0"/>
          </a:p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FlexPlan verschiebt den Stack in Richtung mehrperiodischer, szenarienbasierter Planung.</a:t>
            </a:r>
            <a:endParaRPr lang="en-US" sz="1760" dirty="0"/>
          </a:p>
          <a:p>
            <a:r>
              <a:rPr lang="en-US" sz="17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CbaOPF ist stärker an operativen AC/DC-Bewertungen und Cost-Benefit-Analysen orientiert.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Sienna-Stack: von InfrastructureSystems zu Anwendungen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System- und workflowzentrierte Organisation.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61288"/>
            <a:ext cx="1097280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8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InfrastructureSystems.jl: Hilfs- und Dateninfrastruktur für Sienna-Datenmodelle, Serialisierung, Validierung und Zeitreihenlogik.</a:t>
            </a:r>
            <a:endParaRPr lang="en-US" sz="1880" dirty="0"/>
          </a:p>
          <a:p>
            <a:r>
              <a:rPr lang="en-US" sz="188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PowerSystems.jl / PSY: kanonisches, typisiertes Systemmodell für Netze, Komponenten, Topologie, Zeitreihen und Metadaten.</a:t>
            </a:r>
            <a:endParaRPr lang="en-US" sz="1880" dirty="0"/>
          </a:p>
          <a:p>
            <a:r>
              <a:rPr lang="en-US" sz="188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PowerSimulations.jl / PSI: Operations- und Simulationsschicht für UC, ED, Produktionskostensimulation und gekoppelte Zeitabläufe.</a:t>
            </a:r>
            <a:endParaRPr lang="en-US" sz="1880" dirty="0"/>
          </a:p>
          <a:p>
            <a:r>
              <a:rPr lang="en-US" sz="188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PowerSystemsInvestments.jl: Investitionsmodellierung, z. B. Capacity Expansion und Transmission Expansion.</a:t>
            </a:r>
            <a:endParaRPr lang="en-US" sz="1880" dirty="0"/>
          </a:p>
          <a:p>
            <a:r>
              <a:rPr lang="en-US" sz="188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PowerSimulationsDynamics.jl: dynamische Simulation und großskalige Differentialgleichungsmodelle für Power Systems.</a:t>
            </a:r>
            <a:endParaRPr lang="en-US" sz="1880" dirty="0"/>
          </a:p>
          <a:p>
            <a:r>
              <a:rPr lang="en-US" sz="188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wichtigste Idee: Ein System wird einmal sauber repräsentiert und dann in mehreren Studienklassen wiederverwendet.</a:t>
            </a:r>
            <a:endParaRPr lang="en-US" sz="188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Nutzen von Sienna für ESOM und Betriebsstudien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Stärken liegen in Systemsemantik, Zeitreihen und Studienworkflow.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Modellierungsnutzen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534924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Typisierte Komponenten statt nur Matrix-/Dictionary-Felder.</a:t>
            </a:r>
            <a:endParaRPr lang="en-US" sz="1810" dirty="0"/>
          </a:p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Einheitliches Systemobjekt für Netz, Erzeuger, Lasten, Speicher, Services und Zeitreihen.</a:t>
            </a:r>
            <a:endParaRPr lang="en-US" sz="1810" dirty="0"/>
          </a:p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Chronologische Workflows: Day-ahead UC, Real-time ED, Speicherzustände, Forecasts und Reserven.</a:t>
            </a:r>
            <a:endParaRPr lang="en-US" sz="1810" dirty="0"/>
          </a:p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Natürlicher Übergang von Operationssimulation zu Investitions- und Dynamikstudien.</a:t>
            </a:r>
            <a:endParaRPr lang="en-US" sz="181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Grenzen / Einordnung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92240" y="1481328"/>
            <a:ext cx="512064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Nicht primär als Formulierungsbaukasten für beliebige neue AC-Relaxierungen entworfen.</a:t>
            </a:r>
            <a:endParaRPr lang="en-US" sz="1810" dirty="0"/>
          </a:p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Für sehr spezifische Netzgleichungen kann PowerModels direkter sein.</a:t>
            </a:r>
            <a:endParaRPr lang="en-US" sz="1810" dirty="0"/>
          </a:p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Investmentpakete sind im Vergleich zu PowerSystems/PowerSimulations jünger und aktiver im Ausbau.</a:t>
            </a:r>
            <a:endParaRPr lang="en-US" sz="1810" dirty="0"/>
          </a:p>
          <a:p>
            <a:r>
              <a:rPr lang="en-US" sz="181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Sienna wird besonders wertvoll, wenn Reproduzierbarkeit über viele Zeitpunkte und Modellklassen zentral ist.</a:t>
            </a:r>
            <a:endParaRPr lang="en-US" sz="181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Beziehung beider Julia-Stacks zu MATPOWER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MATPOWER ist zugleich Softwareprodukt, Datenkonvention und Benchmarksprache.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PowerModels ↔ MATPOWER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534924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Direkte Nähe: PowerModels kann MATPOWER-ähnliche Netzfälle lesen und in seine Netzwerkdatenstruktur überführen.</a:t>
            </a:r>
            <a:endParaRPr lang="en-US" sz="1800" dirty="0"/>
          </a:p>
          <a:p>
            <a:r>
              <a:rPr lang="en-US" sz="18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Viele Benchmarkstudien starten mit MATPOWER-Testsystemen und variieren dann die PowerModels-Formulierung.</a:t>
            </a:r>
            <a:endParaRPr lang="en-US" sz="1800" dirty="0"/>
          </a:p>
          <a:p>
            <a:r>
              <a:rPr lang="en-US" sz="18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 liefert die Legacy-Kompatibilität; PowerModels liefert die moderne JuMP-Formulierungsabstraktion.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Sienna ↔ MATPOWER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92240" y="1481328"/>
            <a:ext cx="5120640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Indirektere Nähe: PowerSystems kann MATPOWER-Daten als Eingangsformat nutzen, kapselt sie aber in ein typisiertes Systemmodell.</a:t>
            </a:r>
            <a:endParaRPr lang="en-US" sz="1800" dirty="0"/>
          </a:p>
          <a:p>
            <a:r>
              <a:rPr lang="en-US" sz="18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Nach dem Import steht nicht mehr die MATPOWER-Matrix im Zentrum, sondern das wiederverwendbare Systemobjekt.</a:t>
            </a:r>
            <a:endParaRPr lang="en-US" sz="1800" dirty="0"/>
          </a:p>
          <a:p>
            <a:r>
              <a:rPr lang="en-US" sz="18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Sienna ergänzt MATPOWER-Fälle um Zeitreihen, Komponentenlogik, Betriebsworkflow und Dynamikanschluss.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Beziehung zwischen Sienna und PowerModels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Komplementäre Schichten, nicht bloß konkurrierende Frameworks.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207008"/>
            <a:ext cx="10972800" cy="4800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9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PowerSystems.jl beantwortet primär: „Was ist das System?“ — Komponenten, Topologie, Datenqualität, Zeitreihen, Metadaten.</a:t>
            </a:r>
            <a:endParaRPr lang="en-US" sz="1900" dirty="0"/>
          </a:p>
          <a:p>
            <a:r>
              <a:rPr lang="en-US" sz="19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PowerModels.jl beantwortet primär: „Welche Netzgleichungen und Relaxierungen werden optimiert?“</a:t>
            </a:r>
            <a:endParaRPr lang="en-US" sz="1900" dirty="0"/>
          </a:p>
          <a:p>
            <a:r>
              <a:rPr lang="en-US" sz="19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PowerModelsInterface.jl bildet eine Brücke: PowerModels-Routinen können mit Daten aus PowerSystems.jl genutzt werden.</a:t>
            </a:r>
            <a:endParaRPr lang="en-US" sz="1900" dirty="0"/>
          </a:p>
          <a:p>
            <a:r>
              <a:rPr lang="en-US" sz="19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PowerSimulations.jl kann PowerModels-nahe Netzwerkformulierungen in Operationsmodellen verfügbar machen.</a:t>
            </a:r>
            <a:endParaRPr lang="en-US" sz="1900" dirty="0"/>
          </a:p>
          <a:p>
            <a:r>
              <a:rPr lang="en-US" sz="19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Für ESOM/TNEP ist die Kombination attraktiv: Sienna für System- und Zeitlogik; PowerModels/FlexPlan für detaillierte Netzrestriktionen.</a:t>
            </a:r>
            <a:endParaRPr lang="en-US" sz="1900" dirty="0"/>
          </a:p>
          <a:p>
            <a:r>
              <a:rPr lang="en-US" sz="190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Der Methodenbeitrag sollte bestimmen, welcher Stack die führende Rolle übernimmt.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Praktische Auswahlregeln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Welche Architektur passt zu welcher Forschungsfrage?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Start mit PowerModels / FlexPlan, wenn ...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530352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Kernfrage AC/DC-OPF, TNEP, Relaxierung, Topologie oder Kandidatenleitung ist.</a:t>
            </a:r>
            <a:endParaRPr lang="en-US" sz="1730" dirty="0"/>
          </a:p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mehrere mathematische Netzformulierungen systematisch verglichen werden sollen.</a:t>
            </a:r>
            <a:endParaRPr lang="en-US" sz="1730" dirty="0"/>
          </a:p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MATPOWER-Testsysteme als Benchmark schnell nutzbar sein müssen.</a:t>
            </a:r>
            <a:endParaRPr lang="en-US" sz="1730" dirty="0"/>
          </a:p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Studie eher eine Formulierungs- oder Algorithmusarbeit ist.</a:t>
            </a:r>
            <a:endParaRPr lang="en-US" sz="1730" dirty="0"/>
          </a:p>
        </p:txBody>
      </p:sp>
      <p:sp>
        <p:nvSpPr>
          <p:cNvPr id="6" name="Text 4"/>
          <p:cNvSpPr/>
          <p:nvPr/>
        </p:nvSpPr>
        <p:spPr>
          <a:xfrm>
            <a:off x="6400800" y="11155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Start mit Sienna, wenn ...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92240" y="1444752"/>
            <a:ext cx="5120640" cy="4389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ein konsistentes Energiesystem über viele Zeitpunkte modelliert werden soll.</a:t>
            </a:r>
            <a:endParaRPr lang="en-US" sz="1730" dirty="0"/>
          </a:p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UC, ED, Produktionskostensimulation, Reserven, Speicherzustände und Forecasts zentral sind.</a:t>
            </a:r>
            <a:endParaRPr lang="en-US" sz="1730" dirty="0"/>
          </a:p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Operation, Investment und Dynamik auf derselben Systembeschreibung aufbauen sollen.</a:t>
            </a:r>
            <a:endParaRPr lang="en-US" sz="1730" dirty="0"/>
          </a:p>
          <a:p>
            <a:r>
              <a:rPr lang="en-US" sz="173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Studie eine vollständige Workflow- und Reproduzierbarkeitsarchitektur benötigt.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Interpretation für dynamiknahe ESOM/TNEP-Arbeiten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Geeignete Rollenverteilung in einer Forschungsarchitektur.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70432"/>
            <a:ext cx="10972800" cy="4937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MATPOWER: Legacy-Fälle, kleine Benchmarknetze, schnelle Plausibilitätsprüfung und Literaturvergleich.</a:t>
            </a:r>
            <a:endParaRPr lang="en-US" sz="1860" dirty="0"/>
          </a:p>
          <a:p>
            <a:r>
              <a:rPr lang="en-US" sz="18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PowerModels/PowerModelsACDC/FlexPlan: Netzformulierung, AC/DC-Restriktionen, Kandidatenleitungen, Konverter und Relaxierungen.</a:t>
            </a:r>
            <a:endParaRPr lang="en-US" sz="1860" dirty="0"/>
          </a:p>
          <a:p>
            <a:r>
              <a:rPr lang="en-US" sz="18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Sienna/PowerSystems: saubere Systemrepräsentation, Zeitreihen, Szenarien, Betriebsvalidierung und Anschluss an Dynamikmodelle.</a:t>
            </a:r>
            <a:endParaRPr lang="en-US" sz="1860" dirty="0"/>
          </a:p>
          <a:p>
            <a:r>
              <a:rPr lang="en-US" sz="18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PowerSimulations: ex-post oder gekoppelte Betriebsbewertung von Planungsentscheidungen.</a:t>
            </a:r>
            <a:endParaRPr lang="en-US" sz="1860" dirty="0"/>
          </a:p>
          <a:p>
            <a:r>
              <a:rPr lang="en-US" sz="18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PowerSimulationsDynamics: dynamische Validierung, wenn die Studie über stationäre Netzrestriktionen hinausgeht.</a:t>
            </a:r>
            <a:endParaRPr lang="en-US" sz="1860" dirty="0"/>
          </a:p>
          <a:p>
            <a:r>
              <a:rPr lang="en-US" sz="186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Kernaussage: Für dynamikbewusste Planung ist „ein Stack allein“ oft weniger überzeugend als eine bewusst getrennte Rollenarchitektur.</a:t>
            </a:r>
            <a:endParaRPr lang="en-US" sz="186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Repository-Links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Klickbare Links zu den im Überblick genannten Projekten.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MATPOWER / PowerModels-Familie</a:t>
            </a:r>
            <a:endParaRPr lang="en-US" sz="155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822960" y="1417320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MATPOWER — https://github.com/MATPOWER/matpower</a:t>
            </a:r>
            <a:endParaRPr lang="en-US" sz="122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822960" y="1810512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InfrastructureModels.jl — https://github.com/lanl-ansi/InfrastructureModels.jl</a:t>
            </a:r>
            <a:endParaRPr lang="en-US" sz="1220" dirty="0"/>
          </a:p>
        </p:txBody>
      </p:sp>
      <p:sp>
        <p:nvSpPr>
          <p:cNvPr id="7" name="Text 5">
            <a:hlinkClick r:id="rId3" tooltip=""/>
          </p:cNvPr>
          <p:cNvSpPr/>
          <p:nvPr/>
        </p:nvSpPr>
        <p:spPr>
          <a:xfrm>
            <a:off x="822960" y="2203704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PowerModels.jl — https://github.com/lanl-ansi/PowerModels.jl</a:t>
            </a:r>
            <a:endParaRPr lang="en-US" sz="1220" dirty="0"/>
          </a:p>
        </p:txBody>
      </p:sp>
      <p:sp>
        <p:nvSpPr>
          <p:cNvPr id="8" name="Text 6">
            <a:hlinkClick r:id="rId4" tooltip=""/>
          </p:cNvPr>
          <p:cNvSpPr/>
          <p:nvPr/>
        </p:nvSpPr>
        <p:spPr>
          <a:xfrm>
            <a:off x="822960" y="2596896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PowerModelsACDC.jl — https://github.com/Electa-Git/PowerModelsACDC.jl</a:t>
            </a:r>
            <a:endParaRPr lang="en-US" sz="1220" dirty="0"/>
          </a:p>
        </p:txBody>
      </p:sp>
      <p:sp>
        <p:nvSpPr>
          <p:cNvPr id="9" name="Text 7">
            <a:hlinkClick r:id="rId5" tooltip=""/>
          </p:cNvPr>
          <p:cNvSpPr/>
          <p:nvPr/>
        </p:nvSpPr>
        <p:spPr>
          <a:xfrm>
            <a:off x="822960" y="2990088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PowerModelsDistribution.jl — https://github.com/lanl-ansi/PowerModelsDistribution.jl</a:t>
            </a:r>
            <a:endParaRPr lang="en-US" sz="1220" dirty="0"/>
          </a:p>
        </p:txBody>
      </p:sp>
      <p:sp>
        <p:nvSpPr>
          <p:cNvPr id="10" name="Text 8">
            <a:hlinkClick r:id="rId6" tooltip=""/>
          </p:cNvPr>
          <p:cNvSpPr/>
          <p:nvPr/>
        </p:nvSpPr>
        <p:spPr>
          <a:xfrm>
            <a:off x="822960" y="3383280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FlexPlan.jl — https://github.com/Electa-Git/FlexPlan.jl</a:t>
            </a:r>
            <a:endParaRPr lang="en-US" sz="1220" dirty="0"/>
          </a:p>
        </p:txBody>
      </p:sp>
      <p:sp>
        <p:nvSpPr>
          <p:cNvPr id="11" name="Text 9">
            <a:hlinkClick r:id="rId7" tooltip=""/>
          </p:cNvPr>
          <p:cNvSpPr/>
          <p:nvPr/>
        </p:nvSpPr>
        <p:spPr>
          <a:xfrm>
            <a:off x="822960" y="3776472"/>
            <a:ext cx="548640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CbaOPF.jl — https://github.com/Electa-Git/CbaOPF.jl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92240" y="1051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Sienna-Familie</a:t>
            </a:r>
            <a:endParaRPr lang="en-US" sz="1550" dirty="0"/>
          </a:p>
        </p:txBody>
      </p:sp>
      <p:sp>
        <p:nvSpPr>
          <p:cNvPr id="13" name="Text 11">
            <a:hlinkClick r:id="rId8" tooltip=""/>
          </p:cNvPr>
          <p:cNvSpPr/>
          <p:nvPr/>
        </p:nvSpPr>
        <p:spPr>
          <a:xfrm>
            <a:off x="6583680" y="1417320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InfrastructureSystems.jl — https://github.com/Sienna-Platform/InfrastructureSystems.jl</a:t>
            </a:r>
            <a:endParaRPr lang="en-US" sz="1220" dirty="0"/>
          </a:p>
        </p:txBody>
      </p:sp>
      <p:sp>
        <p:nvSpPr>
          <p:cNvPr id="14" name="Text 12">
            <a:hlinkClick r:id="rId9" tooltip=""/>
          </p:cNvPr>
          <p:cNvSpPr/>
          <p:nvPr/>
        </p:nvSpPr>
        <p:spPr>
          <a:xfrm>
            <a:off x="6583680" y="1810512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PowerSystems.jl — https://github.com/Sienna-Platform/PowerSystems.jl</a:t>
            </a:r>
            <a:endParaRPr lang="en-US" sz="1220" dirty="0"/>
          </a:p>
        </p:txBody>
      </p:sp>
      <p:sp>
        <p:nvSpPr>
          <p:cNvPr id="15" name="Text 13">
            <a:hlinkClick r:id="rId10" tooltip=""/>
          </p:cNvPr>
          <p:cNvSpPr/>
          <p:nvPr/>
        </p:nvSpPr>
        <p:spPr>
          <a:xfrm>
            <a:off x="6583680" y="2203704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PowerSimulations.jl — https://github.com/Sienna-Platform/PowerSimulations.jl</a:t>
            </a:r>
            <a:endParaRPr lang="en-US" sz="1220" dirty="0"/>
          </a:p>
        </p:txBody>
      </p:sp>
      <p:sp>
        <p:nvSpPr>
          <p:cNvPr id="16" name="Text 14">
            <a:hlinkClick r:id="rId11" tooltip=""/>
          </p:cNvPr>
          <p:cNvSpPr/>
          <p:nvPr/>
        </p:nvSpPr>
        <p:spPr>
          <a:xfrm>
            <a:off x="6583680" y="2596896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PowerSystemsInvestments.jl — https://github.com/NREL-Sienna/PowerSystemsInvestments.jl</a:t>
            </a:r>
            <a:endParaRPr lang="en-US" sz="1220" dirty="0"/>
          </a:p>
        </p:txBody>
      </p:sp>
      <p:sp>
        <p:nvSpPr>
          <p:cNvPr id="17" name="Text 15">
            <a:hlinkClick r:id="rId12" tooltip=""/>
          </p:cNvPr>
          <p:cNvSpPr/>
          <p:nvPr/>
        </p:nvSpPr>
        <p:spPr>
          <a:xfrm>
            <a:off x="6583680" y="2990088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PowerSimulationsDynamics.jl — https://github.com/Sienna-Platform/PowerSimulationsDynamics.jl</a:t>
            </a:r>
            <a:endParaRPr lang="en-US" sz="1220" dirty="0"/>
          </a:p>
        </p:txBody>
      </p:sp>
      <p:sp>
        <p:nvSpPr>
          <p:cNvPr id="18" name="Text 16">
            <a:hlinkClick r:id="rId13" tooltip=""/>
          </p:cNvPr>
          <p:cNvSpPr/>
          <p:nvPr/>
        </p:nvSpPr>
        <p:spPr>
          <a:xfrm>
            <a:off x="6583680" y="3383280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PowerModelsInterface.jl — https://github.com/NREL-Sienna/PowerModelsInterface.jl</a:t>
            </a:r>
            <a:endParaRPr lang="en-US" sz="1220" dirty="0"/>
          </a:p>
        </p:txBody>
      </p:sp>
      <p:sp>
        <p:nvSpPr>
          <p:cNvPr id="19" name="Text 17">
            <a:hlinkClick r:id="rId14" tooltip=""/>
          </p:cNvPr>
          <p:cNvSpPr/>
          <p:nvPr/>
        </p:nvSpPr>
        <p:spPr>
          <a:xfrm>
            <a:off x="6583680" y="3776472"/>
            <a:ext cx="5303520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u="sng" dirty="0">
                <a:solidFill>
                  <a:srgbClr val="0B57D0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• Sienna Platform — https://github.com/Sienna-Platform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Lesereihenfolge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4919472"/>
            <a:ext cx="107899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6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MATPOWER für historische Vergleichbarkeit und Testfälle.</a:t>
            </a:r>
            <a:endParaRPr lang="en-US" sz="1620" dirty="0"/>
          </a:p>
          <a:p>
            <a:r>
              <a:rPr lang="en-US" sz="16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PowerModels für Netzformulierungen und Formulierungsvergleiche.</a:t>
            </a:r>
            <a:endParaRPr lang="en-US" sz="1620" dirty="0"/>
          </a:p>
          <a:p>
            <a:r>
              <a:rPr lang="en-US" sz="1620" dirty="0">
                <a:solidFill>
                  <a:srgbClr val="20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Sienna für typisierte Systeme, Chronologie, Operationssimulation, Investment und Dynamik.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Stand: 10.08.2026 · Repository-Links auf Schlussfolie · Folie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MATPOWER, PowerModels.jl und Sienna Framework</dc:title>
  <dc:subject>MATPOWER, PowerModels.jl und Sienna Framework</dc:subject>
  <dc:creator>OpenAI</dc:creator>
  <cp:lastModifiedBy>OpenAI</cp:lastModifiedBy>
  <cp:revision>1</cp:revision>
  <dcterms:created xsi:type="dcterms:W3CDTF">2026-08-10T17:43:53Z</dcterms:created>
  <dcterms:modified xsi:type="dcterms:W3CDTF">2026-08-10T17:43:53Z</dcterms:modified>
</cp:coreProperties>
</file>